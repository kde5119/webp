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6" r:id="rId12"/>
    <p:sldId id="269" r:id="rId13"/>
    <p:sldId id="275" r:id="rId14"/>
    <p:sldId id="270" r:id="rId15"/>
    <p:sldId id="271" r:id="rId16"/>
    <p:sldId id="272" r:id="rId17"/>
    <p:sldId id="273" r:id="rId18"/>
    <p:sldId id="276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95" dt="2026-09-22T19:13:08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2T17:38:16.1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36063 11192 16383 0 0,'5'0'0'0'0,"6"0"0"0"0,6 0 0 0 0,5 0 0 0 0,4 0 0 0 0,2 0 0 0 0,1 0 0 0 0,0 0 0 0 0,0 0 0 0 0,1 0 0 0 0,-1 0 0 0 0,-1 0 0 0 0,1 0 0 0 0,-6 5 0 0 0,-1 1 0 0 0,0 0 0 0 0,2-1 0 0 0,0-1 0 0 0,2-2 0 0 0,1-1 0 0 0,-4 4 0 0 0,-6-3 0 0 0,-1-3 0 0 0,2 0 0 0 0,2-1 0 0 0,3 1 0 0 0,2-1 0 0 0,-3 2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9-22T17:38:16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36248 12197 16383 0 0,'5'0'0'0'0,"6"0"0"0"0,6 0 0 0 0,1 5 0 0 0,1 1 0 0 0,3 1 0 0 0,2-3 0 0 0,2 0 0 0 0,-4 3 0 0 0,0 0 0 0 0,0 0 0 0 0,2-2 0 0 0,1-2 0 0 0,2-1 0 0 0,0-1 0 0 0,1-1 0 0 0,0 0 0 0 0,1 0 0 0 0,-1-1 0 0 0,1 1 0 0 0,-1 0 0 0 0,1 0 0 0 0,-1 0 0 0 0,0 0 0 0 0,0 0 0 0 0,1 0 0 0 0,-1 0 0 0 0,0 0 0 0 0,-9 0 0 0 0,-9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19717 11883 16383 0 0,'0'5'0'0'0,"4"6"0"0"0,3 7 0 0 0,4 4 0 0 0,0 3 0 0 0,-2 3 0 0 0,3-4 0 0 0,-1 0 0 0 0,-2-1 0 0 0,-3 1 0 0 0,-2 2 0 0 0,-2 0 0 0 0,3 2 0 0 0,2 0 0 0 0,-2 0 0 0 0,0 0 0 0 0,-2 1 0 0 0,-1-1 0 0 0,-2 0 0 0 0,1 1 0 0 0,-1-1 0 0 0,-1 0 0 0 0,1 1 0 0 0,0-1 0 0 0,0 0 0 0 0,0 0 0 0 0,-1 0 0 0 0,1 1 0 0 0,0-1 0 0 0,0 0 0 0 0,0 0 0 0 0,0 0 0 0 0,0 1 0 0 0,0-1 0 0 0,5-5 0 0 0,2-1 0 0 0,-1 0 0 0 0,-1 2 0 0 0,-2 0 0 0 0,-1 2 0 0 0,-1 2 0 0 0,0-1 0 0 0,-1 1 0 0 0,0 1 0 0 0,-1-1 0 0 0,1 1 0 0 0,0-1 0 0 0,0 1 0 0 0,0-1 0 0 0,4-4 0 0 0,8-7 0 0 0,5-6 0 0 0,5-5 0 0 0,4-4 0 0 0,2-1 0 0 0,1-2 0 0 0,0 0 0 0 0,0-1 0 0 0,1 1 0 0 0,-1 0 0 0 0,-1 1 0 0 0,1 0 0 0 0,-6 4 0 0 0,-1 3 0 0 0,0-1 0 0 0,2-1 0 0 0,0-2 0 0 0,2 0 0 0 0,1-2 0 0 0,1-1 0 0 0,-4 5 0 0 0,-2 1 0 0 0,0 0 0 0 0,2-1 0 0 0,1-2 0 0 0,1-1 0 0 0,1-1 0 0 0,1-1 0 0 0,0 0 0 0 0,0 0 0 0 0,1 0 0 0 0,-1 0 0 0 0,1 0 0 0 0,-1-1 0 0 0,0 1 0 0 0,1 0 0 0 0,-1 0 0 0 0,0 0 0 0 0,0 0 0 0 0,1 0 0 0 0,-1 0 0 0 0,0 0 0 0 0,0 0 0 0 0,0 0 0 0 0,1 0 0 0 0,-1 0 0 0 0,0 0 0 0 0,0 0 0 0 0,1 0 0 0 0,-1 0 0 0 0,0 0 0 0 0,0 0 0 0 0,0 0 0 0 0,1 0 0 0 0,-1 0 0 0 0,0 0 0 0 0,0 0 0 0 0,-4-5 0 0 0,-2-1 0 0 0,0 0 0 0 0,1 1 0 0 0,2 2 0 0 0,1 0 0 0 0,1 2 0 0 0,1 1 0 0 0,-5-5 0 0 0,-1-1 0 0 0,1 0 0 0 0,0 1 0 0 0,2 2 0 0 0,1 1 0 0 0,-3-4 0 0 0,-2-1 0 0 0,1 1 0 0 0,2 2 0 0 0,1 0 0 0 0,1 3 0 0 0,1 0 0 0 0,1 0 0 0 0,1 1 0 0 0,-1 1 0 0 0,-4-6 0 0 0,-7-6 0 0 0,-6-6 0 0 0,-5-5 0 0 0,-3-3 0 0 0,-3-3 0 0 0,0-1 0 0 0,-1-1 0 0 0,-1 1 0 0 0,-4 4 0 0 0,-1 3 0 0 0,1-1 0 0 0,1 0 0 0 0,1-2 0 0 0,2-1 0 0 0,1-1 0 0 0,0-1 0 0 0,1 0 0 0 0,0-1 0 0 0,1 1 0 0 0,-1-1 0 0 0,0 1 0 0 0,0 0 0 0 0,1-1 0 0 0,3-4 0 0 0,3-1 0 0 0,-1-1 0 0 0,-1 2 0 0 0,-2 1 0 0 0,-1 2 0 0 0,4 1 0 0 0,1 0 0 0 0,-1 1 0 0 0,-1 0 0 0 0,-2 0 0 0 0,4 5 0 0 0,0 1 0 0 0,0 0 0 0 0,-3-1 0 0 0,0-2 0 0 0,-2-1 0 0 0,-2-1 0 0 0,-4 4 0 0 0,-3 1 0 0 0,-4 5 0 0 0,0 0 0 0 0,-4 2 0 0 0,1 0 0 0 0,-1 3 0 0 0,-4 2 0 0 0,2-1 0 0 0,-2 1 0 0 0,-1 2 0 0 0,-3-2 0 0 0,-2 0 0 0 0,-2 3 0 0 0,0 1 0 0 0,3-2 0 0 0,2 0 0 0 0,-1 1 0 0 0,0 2 0 0 0,-3 2 0 0 0,0 1 0 0 0,-1 2 0 0 0,-1 0 0 0 0,0 0 0 0 0,0 0 0 0 0,-1 0 0 0 0,1 1 0 0 0,-1-1 0 0 0,1 0 0 0 0,-1 0 0 0 0,1 0 0 0 0,0 0 0 0 0,0 0 0 0 0,0 0 0 0 0,-1 0 0 0 0,1 0 0 0 0,0 0 0 0 0,0 0 0 0 0,4-5 0 0 0,2-1 0 0 0,0 0 0 0 0,-1 1 0 0 0,-2 2 0 0 0,-1 0 0 0 0,-1 2 0 0 0,-1 1 0 0 0,0 0 0 0 0,0 0 0 0 0,-1 0 0 0 0,1 0 0 0 0,-1 1 0 0 0,1-1 0 0 0,0 0 0 0 0,-1 0 0 0 0,1 0 0 0 0,0 0 0 0 0,0 0 0 0 0,-1 0 0 0 0,1 0 0 0 0,0 5 0 0 0,0 1 0 0 0,0 0 0 0 0,-1-1 0 0 0,1-1 0 0 0,5 3 0 0 0,1 0 0 0 0,0 0 0 0 0,-2-2 0 0 0,0-2 0 0 0,-2 4 0 0 0,-1 0 0 0 0,-1-1 0 0 0,0-1 0 0 0,-1-2 0 0 0,1-1 0 0 0,-1-1 0 0 0,1-1 0 0 0,-1 0 0 0 0,1 0 0 0 0,5 4 0 0 0,1 2 0 0 0,0 0 0 0 0,-2-1 0 0 0,0-2 0 0 0,-3-1 0 0 0,0 0 0 0 0,0-2 0 0 0,-2 0 0 0 0,1 0 0 0 0,0 0 0 0 0,-1-1 0 0 0,1 1 0 0 0,-1 5 0 0 0,1 1 0 0 0,0 0 0 0 0,-1-1 0 0 0,6-2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2240280"/>
            <a:ext cx="10515600" cy="685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9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VS Code </a:t>
            </a:r>
            <a:r>
              <a:rPr sz="39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39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39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가이드</a:t>
            </a:r>
            <a:endParaRPr lang="ko-KR" altLang="en-US" sz="3900" b="1" dirty="0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05840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직관적으로 다루는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&amp; GitHub </a:t>
            </a:r>
            <a:endParaRPr lang="ko-KR" altLang="en-US" sz="2400" b="0">
              <a:solidFill>
                <a:srgbClr val="1F2227"/>
              </a:solidFill>
              <a:latin typeface="Calibri"/>
              <a:ea typeface="Malgun Gothic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5080" y="5230368"/>
            <a:ext cx="4480560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소프트웨어학과 / </a:t>
            </a:r>
            <a:r>
              <a:rPr sz="17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김동은</a:t>
            </a:r>
            <a:endParaRPr lang="ko-KR" altLang="en-US" sz="1700" b="1" dirty="0" err="1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46520" y="5605272"/>
            <a:ext cx="4389120" cy="10972"/>
          </a:xfrm>
          <a:prstGeom prst="rect">
            <a:avLst/>
          </a:prstGeom>
          <a:solidFill>
            <a:srgbClr val="919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46520" y="5833872"/>
            <a:ext cx="4389120" cy="10972"/>
          </a:xfrm>
          <a:prstGeom prst="rect">
            <a:avLst/>
          </a:prstGeom>
          <a:solidFill>
            <a:srgbClr val="919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목차</a:t>
            </a:r>
            <a:endParaRPr lang="ko-KR" altLang="en-US" sz="2700" b="1" dirty="0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361440"/>
            <a:ext cx="4328160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01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Source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Control</a:t>
            </a:r>
            <a:r>
              <a:rPr lang="ko-KR" sz="2400" dirty="0">
                <a:ea typeface="+mn-lt"/>
                <a:cs typeface="+mn-lt"/>
              </a:rPr>
              <a:t>이란</a:t>
            </a:r>
            <a:r>
              <a:rPr lang="en-US" altLang="ko-KR" sz="2400" dirty="0">
                <a:ea typeface="+mn-lt"/>
                <a:cs typeface="+mn-lt"/>
              </a:rPr>
              <a:t>?</a:t>
            </a:r>
            <a:endParaRPr lang="ko-KR" altLang="en-US" sz="2400">
              <a:ea typeface="+mn-lt"/>
              <a:cs typeface="+mn-lt"/>
            </a:endParaRP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altLang="ko-KR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02</a:t>
            </a:r>
            <a:r>
              <a:rPr lang="ko-KR" sz="2400" dirty="0">
                <a:ea typeface="+mn-lt"/>
                <a:cs typeface="+mn-lt"/>
              </a:rPr>
              <a:t> 시작 전 준비</a:t>
            </a: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altLang="ko-KR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03</a:t>
            </a:r>
            <a:r>
              <a:rPr lang="ko-KR" sz="2400" dirty="0">
                <a:ea typeface="+mn-lt"/>
                <a:cs typeface="+mn-lt"/>
              </a:rPr>
              <a:t> 저장소 시작하기</a:t>
            </a: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altLang="ko-KR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04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Source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Control</a:t>
            </a:r>
            <a:r>
              <a:rPr lang="ko-KR" sz="2400" dirty="0">
                <a:ea typeface="+mn-lt"/>
                <a:cs typeface="+mn-lt"/>
              </a:rPr>
              <a:t> 뷰 둘러보기</a:t>
            </a: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altLang="ko-KR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05</a:t>
            </a:r>
            <a:r>
              <a:rPr lang="ko-KR" sz="2400" dirty="0">
                <a:ea typeface="+mn-lt"/>
                <a:cs typeface="+mn-lt"/>
              </a:rPr>
              <a:t> 파일 변경 표시</a:t>
            </a: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altLang="ko-KR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06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 err="1">
                <a:ea typeface="+mn-lt"/>
                <a:cs typeface="+mn-lt"/>
              </a:rPr>
              <a:t>Stage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>
                <a:ea typeface="+mn-lt"/>
                <a:cs typeface="+mn-lt"/>
              </a:rPr>
              <a:t>&amp;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altLang="ko-KR" sz="2400" dirty="0" err="1">
                <a:ea typeface="+mn-lt"/>
                <a:cs typeface="+mn-lt"/>
              </a:rPr>
              <a:t>Commit</a:t>
            </a:r>
            <a:endParaRPr lang="ko-KR" altLang="en-US" sz="2400">
              <a:ea typeface="+mn-lt"/>
              <a:cs typeface="+mn-lt"/>
            </a:endParaRPr>
          </a:p>
          <a:p>
            <a:r>
              <a:rPr dirty="0"/>
              <a:t>
</a:t>
            </a:r>
            <a:endParaRPr lang="ko-KR">
              <a:ea typeface="맑은 고딕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932B3-0770-70BD-732E-59BF09BE38A7}"/>
              </a:ext>
            </a:extLst>
          </p:cNvPr>
          <p:cNvSpPr txBox="1"/>
          <p:nvPr/>
        </p:nvSpPr>
        <p:spPr>
          <a:xfrm>
            <a:off x="6349999" y="1361440"/>
            <a:ext cx="50596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07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Push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Pull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Sync</a:t>
            </a:r>
            <a:endParaRPr lang="ko-KR" sz="2400" dirty="0">
              <a:ea typeface="+mn-lt"/>
              <a:cs typeface="+mn-lt"/>
            </a:endParaRP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08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Timeline</a:t>
            </a:r>
            <a:r>
              <a:rPr lang="ko-KR" sz="2400" dirty="0" err="1">
                <a:ea typeface="+mn-lt"/>
                <a:cs typeface="+mn-lt"/>
              </a:rPr>
              <a:t>으로</a:t>
            </a:r>
            <a:r>
              <a:rPr lang="ko-KR" sz="2400" dirty="0">
                <a:ea typeface="+mn-lt"/>
                <a:cs typeface="+mn-lt"/>
              </a:rPr>
              <a:t> 히스토리 보기</a:t>
            </a: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09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Git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ko-KR" sz="2400" dirty="0">
                <a:ea typeface="+mn-lt"/>
                <a:cs typeface="+mn-lt"/>
              </a:rPr>
              <a:t> 터미널 명령어</a:t>
            </a:r>
          </a:p>
          <a:p>
            <a:br>
              <a:rPr lang="en-US" sz="2400" dirty="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10 GitHub</a:t>
            </a:r>
            <a:r>
              <a:rPr lang="ko-KR" sz="2400">
                <a:ea typeface="+mn-lt"/>
                <a:cs typeface="+mn-lt"/>
              </a:rPr>
              <a:t> 협업</a:t>
            </a:r>
            <a:endParaRPr lang="en-US" sz="2400" dirty="0">
              <a:ea typeface="+mn-lt"/>
              <a:cs typeface="+mn-lt"/>
            </a:endParaRP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11</a:t>
            </a:r>
            <a:r>
              <a:rPr lang="ko-KR" sz="2400">
                <a:ea typeface="+mn-lt"/>
                <a:cs typeface="+mn-lt"/>
              </a:rPr>
              <a:t> 실습</a:t>
            </a:r>
            <a:r>
              <a:rPr lang="en-US" sz="2400" dirty="0">
                <a:ea typeface="+mn-lt"/>
                <a:cs typeface="+mn-lt"/>
              </a:rPr>
              <a:t>: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GitHub</a:t>
            </a:r>
            <a:r>
              <a:rPr lang="ko-KR" sz="2400" err="1">
                <a:ea typeface="+mn-lt"/>
                <a:cs typeface="+mn-lt"/>
              </a:rPr>
              <a:t>에</a:t>
            </a:r>
            <a:r>
              <a:rPr lang="ko-KR" sz="240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Commit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&amp;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Push</a:t>
            </a:r>
            <a:endParaRPr lang="ko-KR" sz="2400" dirty="0">
              <a:ea typeface="+mn-lt"/>
              <a:cs typeface="+mn-lt"/>
            </a:endParaRPr>
          </a:p>
          <a:p>
            <a:br>
              <a:rPr lang="ko-KR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•</a:t>
            </a:r>
            <a:r>
              <a:rPr lang="ko-KR" sz="24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12</a:t>
            </a:r>
            <a:r>
              <a:rPr lang="ko-KR" sz="2400" dirty="0">
                <a:ea typeface="+mn-lt"/>
                <a:cs typeface="+mn-lt"/>
              </a:rPr>
              <a:t> 참고자료</a:t>
            </a:r>
          </a:p>
          <a:p>
            <a:endParaRPr lang="en-US" altLang="ko-KR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Control이란</a:t>
            </a:r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?</a:t>
            </a:r>
            <a:endParaRPr lang="ko-KR" altLang="en-US" sz="2700" b="1" dirty="0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VS </a:t>
            </a:r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Code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안에서 </a:t>
            </a:r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Git의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기본 작업을 수행하는 기능</a:t>
            </a:r>
            <a:endParaRPr lang="ko-KR" altLang="en-US" sz="1300" b="0">
              <a:solidFill>
                <a:srgbClr val="696C72"/>
              </a:solidFill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486400" cy="30162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VS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Code에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통합된 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맑은 고딕"/>
                <a:cs typeface="Calibri"/>
              </a:rPr>
              <a:t> </a:t>
            </a:r>
            <a:r>
              <a:rPr sz="19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19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기반 </a:t>
            </a:r>
            <a:r>
              <a:rPr sz="19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19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19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기능</a:t>
            </a:r>
            <a:endParaRPr lang="ko-KR" sz="1900" dirty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변경사항 확인 →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Stage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Commit을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endParaRPr lang="ko-KR" sz="1900">
              <a:solidFill>
                <a:srgbClr val="1F2227"/>
              </a:solidFill>
              <a:latin typeface="Calibri"/>
              <a:cs typeface="Calibri"/>
            </a:endParaRPr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맑은 고딕"/>
                <a:cs typeface="Calibri"/>
              </a:rPr>
              <a:t> </a:t>
            </a:r>
            <a:r>
              <a:rPr sz="1900" b="1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GUI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에서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수행</a:t>
            </a:r>
            <a:endParaRPr lang="ko-KR" sz="1900">
              <a:solidFill>
                <a:srgbClr val="1F2227"/>
              </a:solidFill>
              <a:latin typeface="Calibri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Branch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Merge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Push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Pull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등의 작업 지원</a:t>
            </a:r>
            <a:endParaRPr lang="ko-KR" sz="1900">
              <a:solidFill>
                <a:srgbClr val="1F2227"/>
              </a:solidFill>
              <a:latin typeface="Calibri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터미널에서 사용하는 </a:t>
            </a:r>
            <a:endParaRPr lang="ko-KR" sz="1900">
              <a:solidFill>
                <a:srgbClr val="1F2227"/>
              </a:solidFill>
              <a:latin typeface="Calibri"/>
              <a:cs typeface="Calibri"/>
            </a:endParaRPr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맑은 고딕"/>
                <a:cs typeface="Calibri"/>
              </a:rPr>
              <a:t> 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Git과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같은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저장소를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공유</a:t>
            </a:r>
            <a:endParaRPr sz="1900" b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9400" y="1554480"/>
            <a:ext cx="4663440" cy="3566160"/>
          </a:xfrm>
          <a:prstGeom prst="rect">
            <a:avLst/>
          </a:prstGeom>
          <a:solidFill>
            <a:srgbClr val="F4F4F6"/>
          </a:solidFill>
          <a:ln>
            <a:solidFill>
              <a:srgbClr val="E1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3200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Malgun Gothic"/>
              </a:rPr>
              <a:t>VS Code Source Control 화면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72AE3C-29D3-0211-889A-4D523BD67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265" y="220345"/>
            <a:ext cx="5878830" cy="6417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3E44F0-7A67-D68C-CF13-4D4925307FE0}"/>
              </a:ext>
            </a:extLst>
          </p:cNvPr>
          <p:cNvSpPr txBox="1"/>
          <p:nvPr/>
        </p:nvSpPr>
        <p:spPr>
          <a:xfrm>
            <a:off x="822960" y="5374640"/>
            <a:ext cx="470408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b="1" dirty="0">
                <a:ea typeface="+mn-lt"/>
                <a:cs typeface="+mn-lt"/>
              </a:rPr>
              <a:t>핵</a:t>
            </a:r>
            <a:r>
              <a:rPr lang="ko-KR" sz="2000" b="1" dirty="0">
                <a:ea typeface="+mn-lt"/>
                <a:cs typeface="+mn-lt"/>
              </a:rPr>
              <a:t>심: </a:t>
            </a:r>
            <a:r>
              <a:rPr lang="ko-KR" sz="2000" b="1" dirty="0" err="1">
                <a:ea typeface="+mn-lt"/>
                <a:cs typeface="+mn-lt"/>
              </a:rPr>
              <a:t>Git을</a:t>
            </a:r>
            <a:r>
              <a:rPr lang="ko-KR" sz="2000" b="1" dirty="0">
                <a:ea typeface="+mn-lt"/>
                <a:cs typeface="+mn-lt"/>
              </a:rPr>
              <a:t> '보면서' 사용할 수 있다.</a:t>
            </a:r>
            <a:endParaRPr lang="ko-KR" sz="2000" dirty="0">
              <a:ea typeface="+mn-lt"/>
              <a:cs typeface="+mn-lt"/>
            </a:endParaRPr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8452257-205F-603E-84D3-92E51BC3E83A}"/>
              </a:ext>
            </a:extLst>
          </p:cNvPr>
          <p:cNvSpPr/>
          <p:nvPr/>
        </p:nvSpPr>
        <p:spPr>
          <a:xfrm>
            <a:off x="6371590" y="514350"/>
            <a:ext cx="5486400" cy="59029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58368" y="438912"/>
            <a:ext cx="108813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dirty="0">
                <a:latin typeface="Calibri"/>
                <a:ea typeface="Calibri"/>
                <a:cs typeface="Calibri"/>
              </a:rPr>
              <a:t>시작 전 준비</a:t>
            </a:r>
            <a:endParaRPr lang="ko-KR" altLang="en-US" sz="2700">
              <a:latin typeface="Calibri"/>
              <a:ea typeface="맑은 고딕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설치와 사용자 정보 설정</a:t>
            </a:r>
            <a:endParaRPr lang="ko-KR" altLang="en-US" sz="1300" b="0">
              <a:solidFill>
                <a:srgbClr val="696C72"/>
              </a:solidFill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0400" y="1869440"/>
            <a:ext cx="5486400" cy="21390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Git이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PC에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설치되어 있어야 함</a:t>
            </a:r>
            <a:endParaRPr lang="ko-KR" altLang="en-US" sz="1900" dirty="0">
              <a:solidFill>
                <a:srgbClr val="1F2227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최초 1회 사용자 이름과 이메일 설정</a:t>
            </a:r>
            <a:endParaRPr lang="ko-KR" altLang="en-US" sz="1900" dirty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VS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Code가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PC의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설치를 사용</a:t>
            </a:r>
            <a:endParaRPr lang="ko-KR" altLang="en-US" sz="1900" dirty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  <a:p>
            <a:pPr algn="l"/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GitHub 작업 시 필요하면 브라우저에서 로그인</a:t>
            </a:r>
            <a:endParaRPr lang="ko-KR" altLang="en-US" sz="1900" b="0" dirty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97040" y="97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C72"/>
                </a:solidFill>
                <a:latin typeface="Malgun Gothic"/>
              </a:rPr>
              <a:t>설정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7040" y="1544320"/>
            <a:ext cx="5059680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git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config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--global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endParaRPr lang="ko-KR" alt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user.name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"Your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Name"</a:t>
            </a:r>
            <a:endParaRPr lang="ko-KR" altLang="en-US">
              <a:ea typeface="+mn-lt"/>
              <a:cs typeface="+mn-lt"/>
            </a:endParaRPr>
          </a:p>
          <a:p>
            <a:endParaRPr lang="en-US" altLang="ko-KR" sz="3200" dirty="0">
              <a:solidFill>
                <a:srgbClr val="1F2227"/>
              </a:solidFill>
              <a:ea typeface="+mn-lt"/>
              <a:cs typeface="+mn-lt"/>
            </a:endParaRPr>
          </a:p>
          <a:p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git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config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--global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endParaRPr lang="ko-KR" altLang="en-US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altLang="ko-KR" sz="3200" dirty="0" err="1">
                <a:solidFill>
                  <a:srgbClr val="1F2227"/>
                </a:solidFill>
                <a:ea typeface="+mn-lt"/>
                <a:cs typeface="+mn-lt"/>
              </a:rPr>
              <a:t>user.email</a:t>
            </a:r>
            <a:r>
              <a:rPr lang="ko-KR" sz="3200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en-US" altLang="ko-KR" sz="3200" dirty="0">
                <a:solidFill>
                  <a:srgbClr val="1F2227"/>
                </a:solidFill>
                <a:ea typeface="+mn-lt"/>
                <a:cs typeface="+mn-lt"/>
              </a:rPr>
              <a:t>"you@example.com"</a:t>
            </a:r>
            <a:endParaRPr lang="ko-KR" altLang="en-US" dirty="0">
              <a:ea typeface="+mn-lt"/>
              <a:cs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0880" y="5074920"/>
            <a:ext cx="4480560" cy="10972"/>
          </a:xfrm>
          <a:prstGeom prst="rect">
            <a:avLst/>
          </a:prstGeom>
          <a:solidFill>
            <a:srgbClr val="919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저장소 시작하기</a:t>
            </a:r>
            <a:endParaRPr lang="ko-KR" altLang="en-US" sz="2700" b="1" dirty="0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Clone / Initialize / Open</a:t>
            </a:r>
            <a:endParaRPr lang="ko-KR" altLang="en-US" sz="1300" b="0" dirty="0">
              <a:solidFill>
                <a:srgbClr val="696C72"/>
              </a:solidFill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6240" y="1508760"/>
            <a:ext cx="53035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Clone Repository — GitHub 저장소를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PC로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복사</a:t>
            </a:r>
            <a:endParaRPr lang="ko-KR" altLang="en-US" sz="2000">
              <a:solidFill>
                <a:srgbClr val="1F2227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Calibri"/>
            </a:endParaRPr>
          </a:p>
          <a:p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Initialize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Repository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현재 폴더를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저장소로 시작</a:t>
            </a:r>
            <a:endParaRPr lang="ko-KR" altLang="en-US" sz="2000">
              <a:solidFill>
                <a:srgbClr val="1F2227"/>
              </a:solidFill>
              <a:latin typeface="맑은 고딕"/>
              <a:ea typeface="맑은 고딕"/>
              <a:cs typeface="Calibri"/>
            </a:endParaRPr>
          </a:p>
          <a:p>
            <a:pPr algn="l"/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Open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Folder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이미 </a:t>
            </a:r>
            <a:r>
              <a:rPr sz="20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20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저장소인 폴더 열기</a:t>
            </a:r>
            <a:endParaRPr lang="ko-KR" altLang="en-US" sz="2000" b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9400" y="1508760"/>
            <a:ext cx="4572000" cy="2926080"/>
          </a:xfrm>
          <a:prstGeom prst="rect">
            <a:avLst/>
          </a:prstGeom>
          <a:solidFill>
            <a:srgbClr val="F4F4F6"/>
          </a:solidFill>
          <a:ln>
            <a:solidFill>
              <a:srgbClr val="E1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Malgun Gothic"/>
              </a:rPr>
              <a:t>Source Control 초기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1320" y="4069080"/>
            <a:ext cx="45720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700" b="1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상황에 맞는 시작 방법을 선택</a:t>
            </a:r>
            <a:endParaRPr lang="ko-KR" altLang="en-US" sz="1700" b="1" dirty="0">
              <a:solidFill>
                <a:srgbClr val="696C72"/>
              </a:solidFill>
              <a:latin typeface="Calibri"/>
              <a:cs typeface="Calibri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5FB2DB-03C9-799A-F24D-94EE5F8E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623570"/>
            <a:ext cx="5821680" cy="5173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 </a:t>
            </a:r>
            <a:r>
              <a:rPr sz="27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뷰 둘러보기</a:t>
            </a:r>
            <a:endParaRPr lang="ko-KR" altLang="en-US" sz="2700" b="1" dirty="0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변경사항을 확인하고 </a:t>
            </a:r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작업을 실행하는 중심 화면</a:t>
            </a:r>
            <a:endParaRPr lang="ko-KR" altLang="en-US" sz="1300" b="0" dirty="0">
              <a:solidFill>
                <a:srgbClr val="696C72"/>
              </a:solidFill>
              <a:latin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4572000" cy="4160520"/>
          </a:xfrm>
          <a:prstGeom prst="rect">
            <a:avLst/>
          </a:prstGeom>
          <a:solidFill>
            <a:srgbClr val="F4F4F6"/>
          </a:solidFill>
          <a:ln>
            <a:solidFill>
              <a:srgbClr val="E1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4061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Malgun Gothic"/>
              </a:rPr>
              <a:t>Source Control 패널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9920" y="1488440"/>
            <a:ext cx="5212080" cy="27238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sz="1900" dirty="0">
                <a:solidFill>
                  <a:srgbClr val="1F2227"/>
                </a:solidFill>
                <a:latin typeface="Calibri"/>
                <a:cs typeface="Calibri"/>
              </a:rPr>
              <a:t>• </a:t>
            </a:r>
            <a:r>
              <a:rPr lang="ko-KR" sz="1900" dirty="0" err="1">
                <a:solidFill>
                  <a:srgbClr val="1F2227"/>
                </a:solidFill>
                <a:latin typeface="Calibri"/>
                <a:cs typeface="Calibri"/>
              </a:rPr>
              <a:t>Commit</a:t>
            </a:r>
            <a:r>
              <a:rPr lang="ko-KR" sz="1900" dirty="0">
                <a:solidFill>
                  <a:srgbClr val="1F2227"/>
                </a:solidFill>
                <a:latin typeface="Calibri"/>
                <a:cs typeface="Calibri"/>
              </a:rPr>
              <a:t> 버튼</a:t>
            </a:r>
            <a:endParaRPr lang="ko-KR" dirty="0">
              <a:cs typeface="Calibri"/>
            </a:endParaRPr>
          </a:p>
          <a:p>
            <a:endParaRPr lang="ko-KR" sz="190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메시지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입력창</a:t>
            </a:r>
            <a:endParaRPr lang="ko-KR" altLang="en-US" sz="1900">
              <a:solidFill>
                <a:srgbClr val="1F2227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Changes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아직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Stage하지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않은 변경</a:t>
            </a:r>
            <a:endParaRPr lang="ko-KR" altLang="en-US" sz="1900" dirty="0">
              <a:solidFill>
                <a:srgbClr val="1F2227"/>
              </a:solidFill>
              <a:latin typeface="맑은 고딕"/>
              <a:ea typeface="맑은 고딕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Staged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Changes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Commit할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변경</a:t>
            </a:r>
            <a:endParaRPr lang="ko-KR" altLang="en-US" sz="1900" dirty="0">
              <a:solidFill>
                <a:srgbClr val="1F2227"/>
              </a:solidFill>
              <a:latin typeface="맑은 고딕"/>
              <a:ea typeface="맑은 고딕"/>
              <a:cs typeface="Calibri"/>
            </a:endParaRPr>
          </a:p>
          <a:p>
            <a:pPr algn="l"/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… 메뉴 —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Pull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Push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Fetch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등</a:t>
            </a:r>
            <a:endParaRPr lang="ko-KR" altLang="en-US" sz="1900" b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74560" y="5461000"/>
            <a:ext cx="5029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600" b="1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현재 화면의 상태를 먼저 확인하는 습관</a:t>
            </a:r>
            <a:endParaRPr lang="ko-KR" altLang="en-US" sz="1600" b="1" dirty="0">
              <a:solidFill>
                <a:srgbClr val="696C72"/>
              </a:solidFill>
              <a:latin typeface="Calibri"/>
              <a:cs typeface="Calibri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08BDB8E-85F7-47C1-BDD4-F9A89140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85" y="1326833"/>
            <a:ext cx="6706870" cy="5454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파일 옆 변경 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파일 상태를 빠르게 파악하기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6400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Modified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508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기존 파일이 수정됨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6400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41448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Untracked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4144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Git이 아직 추적하지 않는 새 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74136"/>
            <a:ext cx="6400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74136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7413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Git에 추가된 파일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06824"/>
            <a:ext cx="64008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06824"/>
            <a:ext cx="1828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Deleted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3068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파일이 삭제됨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9875520" cy="10972"/>
          </a:xfrm>
          <a:prstGeom prst="rect">
            <a:avLst/>
          </a:prstGeom>
          <a:solidFill>
            <a:srgbClr val="919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504688"/>
            <a:ext cx="9875520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상태 문자는 '무엇이 </a:t>
            </a:r>
            <a:r>
              <a:rPr sz="15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바뀌었는지'를</a:t>
            </a:r>
            <a:r>
              <a:rPr lang="ko-KR" sz="150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 나타낸다. </a:t>
            </a:r>
            <a:endParaRPr lang="ko-KR" altLang="en-US" sz="1500" b="0" dirty="0">
              <a:solidFill>
                <a:srgbClr val="696C7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487F989-EB60-145B-816A-F03EB8133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265" y="386080"/>
            <a:ext cx="4629150" cy="44704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12B5E3BB-E0F6-7B44-AEF1-25EC9E9437D8}"/>
                  </a:ext>
                </a:extLst>
              </p14:cNvPr>
              <p14:cNvContentPartPr/>
              <p14:nvPr/>
            </p14:nvContentPartPr>
            <p14:xfrm>
              <a:off x="11511280" y="3718559"/>
              <a:ext cx="231830" cy="12899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12B5E3BB-E0F6-7B44-AEF1-25EC9E9437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93668" y="3701477"/>
                <a:ext cx="267413" cy="47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45507EBC-9444-0AC8-48E0-C6A045628B4B}"/>
                  </a:ext>
                </a:extLst>
              </p14:cNvPr>
              <p14:cNvContentPartPr/>
              <p14:nvPr/>
            </p14:nvContentPartPr>
            <p14:xfrm>
              <a:off x="11582399" y="4104640"/>
              <a:ext cx="254985" cy="20854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45507EBC-9444-0AC8-48E0-C6A045628B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64777" y="4086967"/>
                <a:ext cx="290589" cy="5584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Stage &amp; Commit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이번 Commit에 포함할 변경을 선택하고 로컬 히스토리에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Changes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19194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1645920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239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Stage (+)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19194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19194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1645920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063240"/>
            <a:ext cx="10332720" cy="10972"/>
          </a:xfrm>
          <a:prstGeom prst="rect">
            <a:avLst/>
          </a:prstGeom>
          <a:solidFill>
            <a:srgbClr val="919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9875520" cy="155427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Stage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= 이번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Commit에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넣을 변경을 선택</a:t>
            </a:r>
            <a:endParaRPr lang="ko-KR" altLang="en-US" dirty="0"/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= 선택된 변경을 로컬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기록으로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저장</a:t>
            </a:r>
            <a:endParaRPr lang="ko-KR" sz="1900" dirty="0" err="1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Commit만으로는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GitHub에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올라가지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않음</a:t>
            </a:r>
            <a:endParaRPr sz="1900" b="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원격 저장소와 동기화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GitHub와 로컬 Repository 사이의 변경사항을 주고받기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LOCAL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508760"/>
            <a:ext cx="2011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194560"/>
            <a:ext cx="1828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Remote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19456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Push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20040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← 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20624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Sync = Pull +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24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Push: 내 Commit을 원격으로 업로드  /  Pull: 원격 Commit을 내려받아 현재 Branch에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커밋 히스토리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16040" y="474471"/>
            <a:ext cx="3779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Timeline만 활용해 특정 파일의 과거 변경을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5186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Explorer →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3657600" cy="24314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Explorer에서 파일 선택</a:t>
            </a:r>
            <a:endParaRPr lang="ko-KR" altLang="en-US" dirty="0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Timeline에서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해당 파일의 </a:t>
            </a:r>
            <a:endParaRPr lang="ko-KR" altLang="en-US">
              <a:ea typeface="맑은 고딕"/>
              <a:cs typeface="Calibri"/>
            </a:endParaRPr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 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기록 확인</a:t>
            </a:r>
            <a:endParaRPr lang="ko-KR" sz="190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Commit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시점과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변경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이력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확인</a:t>
            </a:r>
            <a:endParaRPr lang="ko-KR" sz="190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특정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파일의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과거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변경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추적</a:t>
            </a:r>
            <a:endParaRPr sz="1900" b="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0" y="5166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파일 단위 히스토리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24F08F-E271-5E3C-7EAB-FDEFF932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1036003"/>
            <a:ext cx="5017135" cy="54362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알아두면 좋은 Git / 터미널 명령어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GUI 작업과 Git 명령의 대응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 clone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25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원격 저장소 복제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208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 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208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현재 폴더를 Git 저장소로 초기화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 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157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변경사항 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10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 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107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변경사항을 로컬 히스토리에 기록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056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10565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로컬 Commit을 원격으로 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 pull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800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원격 Commit을 내려받아 반영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596128"/>
            <a:ext cx="9966960" cy="10972"/>
          </a:xfrm>
          <a:prstGeom prst="rect">
            <a:avLst/>
          </a:prstGeom>
          <a:solidFill>
            <a:srgbClr val="919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GUI를 주로 사용해도 명령어의 의미를 알아두면 오류 상황에서 도움이 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GitHub와</a:t>
            </a:r>
            <a:r>
              <a:rPr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협업하기</a:t>
            </a:r>
            <a:endParaRPr lang="ko-KR" altLang="en-US" sz="2700" b="1" dirty="0">
              <a:solidFill>
                <a:srgbClr val="1F2227"/>
              </a:solidFill>
              <a:latin typeface="Calibri"/>
              <a:cs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Pull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Request와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Issue를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VS </a:t>
            </a:r>
            <a:r>
              <a:rPr sz="1300" b="0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Code와</a:t>
            </a:r>
            <a:r>
              <a:rPr sz="1300" b="0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연결</a:t>
            </a:r>
            <a:endParaRPr lang="ko-KR" altLang="en-US" sz="1300" b="0" dirty="0">
              <a:solidFill>
                <a:srgbClr val="696C72"/>
              </a:solidFill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303520" cy="33085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Issue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작업 내용, 버그, 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r>
              <a:rPr lang="ko-KR" altLang="en-US" sz="1900" dirty="0">
                <a:solidFill>
                  <a:srgbClr val="1F2227"/>
                </a:solidFill>
                <a:latin typeface="Calibri"/>
                <a:ea typeface="Malgun Gothic"/>
                <a:cs typeface="Calibri"/>
              </a:rPr>
              <a:t> </a:t>
            </a:r>
            <a:r>
              <a:rPr lang="ko-KR" sz="1900" dirty="0" err="1">
                <a:solidFill>
                  <a:srgbClr val="1F2227"/>
                </a:solidFill>
                <a:latin typeface="Calibri"/>
                <a:ea typeface="Malgun Gothic"/>
                <a:cs typeface="Calibri"/>
              </a:rPr>
              <a:t>개선사항등을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관리</a:t>
            </a:r>
            <a:endParaRPr lang="ko-KR" sz="190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Branch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sz="1900" dirty="0">
                <a:solidFill>
                  <a:srgbClr val="1F2227"/>
                </a:solidFill>
                <a:latin typeface="Calibri"/>
                <a:ea typeface="맑은 고딕"/>
                <a:cs typeface="Calibri"/>
              </a:rPr>
              <a:t> </a:t>
            </a:r>
            <a:endParaRPr lang="ko-KR"/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 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Issue에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맞춰 별도 작업 흐름 생성</a:t>
            </a:r>
            <a:endParaRPr lang="ko-KR" sz="1900" dirty="0">
              <a:solidFill>
                <a:srgbClr val="1F2227"/>
              </a:solidFill>
              <a:latin typeface="Calibri"/>
              <a:ea typeface="Malgun Gothic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Pull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Request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endParaRPr lang="ko-KR" sz="1900" dirty="0">
              <a:solidFill>
                <a:srgbClr val="1F2227"/>
              </a:solidFill>
              <a:latin typeface="Calibri"/>
              <a:ea typeface="Malgun Gothic"/>
              <a:cs typeface="Calibri"/>
            </a:endParaRPr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Malgun Gothic"/>
                <a:cs typeface="Calibri"/>
              </a:rPr>
              <a:t>  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변경사항을 검토하고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Merge하기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위한 요청</a:t>
            </a:r>
            <a:endParaRPr lang="ko-KR" altLang="en-US" sz="1900" dirty="0">
              <a:solidFill>
                <a:srgbClr val="1F2227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Calibri"/>
            </a:endParaRPr>
          </a:p>
          <a:p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GitHub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Pull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Requests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Issues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endParaRPr lang="ko-KR" sz="1900" dirty="0">
              <a:solidFill>
                <a:srgbClr val="1F2227"/>
              </a:solidFill>
              <a:latin typeface="Calibri"/>
              <a:ea typeface="맑은 고딕"/>
              <a:cs typeface="Calibri"/>
            </a:endParaRPr>
          </a:p>
          <a:p>
            <a:r>
              <a:rPr lang="ko-KR" sz="190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 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확장으로 VS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Code에서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관리</a:t>
            </a:r>
            <a:r>
              <a:rPr sz="19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가능</a:t>
            </a:r>
            <a:endParaRPr sz="1900" b="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37960" y="1508760"/>
            <a:ext cx="4572000" cy="3474720"/>
          </a:xfrm>
          <a:prstGeom prst="rect">
            <a:avLst/>
          </a:prstGeom>
          <a:solidFill>
            <a:srgbClr val="F4F4F6"/>
          </a:solidFill>
          <a:ln>
            <a:solidFill>
              <a:srgbClr val="E1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Malgun Gothic"/>
              </a:rPr>
              <a:t>GitHub / Pull Request 화면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7D9458-9DF1-C8A4-0DB9-946F96F02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202" y="0"/>
            <a:ext cx="632207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0DF7C2-D89D-AD7A-64D0-6E66A96F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1715680"/>
            <a:ext cx="5291666" cy="497095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6A3856-8D34-799A-2AF8-13C375153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585" y="1842822"/>
            <a:ext cx="5291667" cy="4696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176A08-80FB-E6C5-229E-35A8F24FB9CE}"/>
              </a:ext>
            </a:extLst>
          </p:cNvPr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af-ZA" sz="2700" b="1" dirty="0" err="1">
                <a:solidFill>
                  <a:srgbClr val="1F2227"/>
                </a:solidFill>
                <a:ea typeface="+mn-lt"/>
                <a:cs typeface="+mn-lt"/>
              </a:rPr>
              <a:t>실습</a:t>
            </a:r>
            <a:r>
              <a:rPr lang="af-ZA" sz="2700" b="1" dirty="0">
                <a:solidFill>
                  <a:srgbClr val="1F2227"/>
                </a:solidFill>
                <a:ea typeface="+mn-lt"/>
                <a:cs typeface="+mn-lt"/>
              </a:rPr>
              <a:t> — </a:t>
            </a:r>
            <a:r>
              <a:rPr lang="af-ZA" sz="2700" b="1" dirty="0" err="1">
                <a:solidFill>
                  <a:srgbClr val="1F2227"/>
                </a:solidFill>
                <a:ea typeface="+mn-lt"/>
                <a:cs typeface="+mn-lt"/>
              </a:rPr>
              <a:t>GitHub</a:t>
            </a:r>
            <a:r>
              <a:rPr lang="af-ZA" sz="2700" b="1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af-ZA" sz="2700" b="1" dirty="0" err="1">
                <a:solidFill>
                  <a:srgbClr val="1F2227"/>
                </a:solidFill>
                <a:ea typeface="+mn-lt"/>
                <a:cs typeface="+mn-lt"/>
              </a:rPr>
              <a:t>Repository</a:t>
            </a:r>
            <a:r>
              <a:rPr lang="af-ZA" sz="2700" b="1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af-ZA" sz="2700" b="1" dirty="0" err="1">
                <a:solidFill>
                  <a:srgbClr val="1F2227"/>
                </a:solidFill>
                <a:ea typeface="+mn-lt"/>
                <a:cs typeface="+mn-lt"/>
              </a:rPr>
              <a:t>Clone</a:t>
            </a:r>
            <a:r>
              <a:rPr lang="ko-KR" altLang="af-ZA" sz="2700" b="1" dirty="0" err="1">
                <a:solidFill>
                  <a:srgbClr val="1F2227"/>
                </a:solidFill>
                <a:ea typeface="+mn-lt"/>
                <a:cs typeface="+mn-lt"/>
              </a:rPr>
              <a:t>부터</a:t>
            </a:r>
            <a:r>
              <a:rPr lang="af-ZA" sz="2700" b="1" dirty="0">
                <a:solidFill>
                  <a:srgbClr val="1F2227"/>
                </a:solidFill>
                <a:ea typeface="+mn-lt"/>
                <a:cs typeface="+mn-lt"/>
              </a:rPr>
              <a:t> </a:t>
            </a:r>
            <a:r>
              <a:rPr lang="ko-KR" altLang="af-ZA" sz="2700" b="1" dirty="0">
                <a:solidFill>
                  <a:srgbClr val="1F2227"/>
                </a:solidFill>
                <a:ea typeface="+mn-lt"/>
                <a:cs typeface="+mn-lt"/>
              </a:rPr>
              <a:t>시작하기</a:t>
            </a:r>
            <a:r>
              <a:rPr lang="af-ZA"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 </a:t>
            </a:r>
            <a:endParaRPr lang="ko-KR" altLang="en-US" sz="2700" b="1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3C49A35-E6B0-9130-6D22-4EC760597D88}"/>
              </a:ext>
            </a:extLst>
          </p:cNvPr>
          <p:cNvCxnSpPr/>
          <p:nvPr/>
        </p:nvCxnSpPr>
        <p:spPr>
          <a:xfrm>
            <a:off x="660400" y="1153160"/>
            <a:ext cx="10261600" cy="20320"/>
          </a:xfrm>
          <a:prstGeom prst="straightConnector1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636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실습 ①  파일 수정 → Changes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5320" y="130759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실제 프로젝트를 수정하고 Source Control에서 변경사항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2397760"/>
            <a:ext cx="3728720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2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파일</a:t>
            </a:r>
            <a:r>
              <a:rPr sz="2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수정</a:t>
            </a:r>
            <a:endParaRPr lang="ko-KR" altLang="en-US" sz="2800" dirty="0" err="1"/>
          </a:p>
          <a:p>
            <a:r>
              <a:rPr sz="2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2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저장</a:t>
            </a:r>
            <a:endParaRPr lang="ko-KR" sz="2800" dirty="0" err="1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r>
              <a:rPr sz="2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Source Control </a:t>
            </a:r>
            <a:r>
              <a:rPr sz="2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열기</a:t>
            </a:r>
            <a:endParaRPr lang="ko-KR" sz="2800" dirty="0" err="1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sz="2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Changes </a:t>
            </a:r>
            <a:r>
              <a:rPr sz="2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확인</a:t>
            </a:r>
            <a:endParaRPr sz="2800" b="0" dirty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9253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8E86C19-2526-BD69-3EB6-5A878E5F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65" y="690880"/>
            <a:ext cx="6315710" cy="6085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실습 ②  Stage →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변경을 선택하고 로컬 Repository에 기록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Stage + Commit 화면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645920"/>
            <a:ext cx="3434080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파일 옆 +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클릭</a:t>
            </a:r>
            <a:endParaRPr lang="ko-KR" altLang="en-US" sz="2400" dirty="0" err="1">
              <a:latin typeface="Calibri"/>
              <a:cs typeface="Calibri"/>
            </a:endParaRPr>
          </a:p>
          <a:p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Commit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메시지</a:t>
            </a:r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작성</a:t>
            </a:r>
            <a:endParaRPr lang="ko-KR" sz="2400" dirty="0" err="1">
              <a:solidFill>
                <a:srgbClr val="1F2227"/>
              </a:solidFill>
              <a:latin typeface="Calibri"/>
              <a:cs typeface="Calibri"/>
            </a:endParaRPr>
          </a:p>
          <a:p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Commit</a:t>
            </a:r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실행</a:t>
            </a:r>
            <a:endParaRPr lang="ko-KR" sz="2400" dirty="0">
              <a:solidFill>
                <a:srgbClr val="1F2227"/>
              </a:solidFill>
              <a:latin typeface="Calibri"/>
              <a:cs typeface="Calibri"/>
            </a:endParaRPr>
          </a:p>
          <a:p>
            <a:pPr algn="l"/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Changes가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비워지는지</a:t>
            </a:r>
            <a:r>
              <a:rPr sz="24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4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확인</a:t>
            </a:r>
            <a:endParaRPr sz="2400" b="0">
              <a:solidFill>
                <a:srgbClr val="1F22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9253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D3CCAF-92F9-C8C1-C10B-8DE77E269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72" y="1331595"/>
            <a:ext cx="7120255" cy="55257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실습 ③  Push → GitHub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로컬 Commit을 원격 Repository에 업로드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486400" cy="4480560"/>
          </a:xfrm>
          <a:prstGeom prst="rect">
            <a:avLst/>
          </a:prstGeom>
          <a:solidFill>
            <a:srgbClr val="F4F4F6"/>
          </a:solidFill>
          <a:ln>
            <a:solidFill>
              <a:srgbClr val="E1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VS Code Push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817872"/>
            <a:ext cx="4836160" cy="348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Commit은 로컬 기록 → Push 후 GitHub에서 확인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CAFC00-A249-2D76-01CC-874A66498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1322388"/>
            <a:ext cx="7508875" cy="45891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D87E4BC-522F-6C29-F00B-9E8CE936F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855" y="2684462"/>
            <a:ext cx="3935730" cy="17837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2274DF0-4E82-B478-572E-6B9DFFF48BE0}"/>
                  </a:ext>
                </a:extLst>
              </p14:cNvPr>
              <p14:cNvContentPartPr/>
              <p14:nvPr/>
            </p14:nvContentPartPr>
            <p14:xfrm>
              <a:off x="4501990" y="3951797"/>
              <a:ext cx="883241" cy="519028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2274DF0-4E82-B478-572E-6B9DFFF48B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84354" y="3934172"/>
                <a:ext cx="918873" cy="5546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실습 ④  Pull / Sync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33271"/>
            <a:ext cx="10607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GitHub의 변경사항을 로컬로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00" y="101092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Source Control … 메뉴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25312"/>
            <a:ext cx="1033272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400" b="1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다른 환경에서 변경된 내용이 있다면 </a:t>
            </a:r>
            <a:r>
              <a:rPr sz="2400" b="1" dirty="0" err="1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Pull로</a:t>
            </a:r>
            <a:r>
              <a:rPr sz="2400" b="1" dirty="0">
                <a:solidFill>
                  <a:srgbClr val="696C72"/>
                </a:solidFill>
                <a:latin typeface="Calibri"/>
                <a:ea typeface="Calibri"/>
                <a:cs typeface="Calibri"/>
              </a:rPr>
              <a:t> 최신 상태를 반영</a:t>
            </a:r>
            <a:endParaRPr lang="ko-KR" altLang="en-US" sz="2400" b="1" dirty="0">
              <a:solidFill>
                <a:srgbClr val="696C7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E90A71-625E-E857-88FC-8FB4FD837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15" y="1425258"/>
            <a:ext cx="8980170" cy="43427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A0853-4FF9-71B8-C4AA-F95D4175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40016F-440F-B77E-9389-856BF67C9403}"/>
              </a:ext>
            </a:extLst>
          </p:cNvPr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ko-KR" altLang="af-ZA" sz="2700" b="1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추가로 알아두면 좋은 내용 - </a:t>
            </a:r>
            <a:r>
              <a:rPr lang="ko-KR" sz="2700" b="1" dirty="0">
                <a:solidFill>
                  <a:srgbClr val="1F2227"/>
                </a:solidFill>
                <a:ea typeface="+mn-lt"/>
                <a:cs typeface="+mn-lt"/>
              </a:rPr>
              <a:t>변경사항 확인하기</a:t>
            </a:r>
            <a:endParaRPr lang="af-ZA" altLang="ko-KR" sz="2700" b="1" dirty="0">
              <a:solidFill>
                <a:srgbClr val="1F2227"/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EC3FD-EEBB-4E7D-8563-B348A0314232}"/>
              </a:ext>
            </a:extLst>
          </p:cNvPr>
          <p:cNvSpPr txBox="1"/>
          <p:nvPr/>
        </p:nvSpPr>
        <p:spPr>
          <a:xfrm>
            <a:off x="660400" y="1066800"/>
            <a:ext cx="84531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 err="1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+mn-lt"/>
                <a:cs typeface="Calibri"/>
              </a:rPr>
              <a:t>Diff</a:t>
            </a:r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+mn-lt"/>
                <a:cs typeface="Calibri"/>
              </a:rPr>
              <a:t> </a:t>
            </a:r>
            <a:r>
              <a:rPr lang="en-US" altLang="ko-KR" dirty="0" err="1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Editor</a:t>
            </a:r>
            <a:r>
              <a:rPr lang="en-US" altLang="ko-KR" dirty="0" err="1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+mn-lt"/>
                <a:cs typeface="Calibri"/>
              </a:rPr>
              <a:t>기능으</a:t>
            </a:r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+mn-lt"/>
                <a:cs typeface="Calibri"/>
              </a:rPr>
              <a:t>로 </a:t>
            </a:r>
            <a:r>
              <a:rPr lang="en-US" altLang="ko-KR" dirty="0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Calibri"/>
                <a:cs typeface="Calibri"/>
              </a:rPr>
              <a:t>Commit</a:t>
            </a:r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latin typeface="Calibri"/>
                <a:ea typeface="+mn-lt"/>
                <a:cs typeface="Calibri"/>
              </a:rPr>
              <a:t> 전에 실제 변경 내용을 검토할 수 있다.</a:t>
            </a:r>
            <a:endParaRPr lang="ko-KR" altLang="en-US">
              <a:solidFill>
                <a:schemeClr val="tx1">
                  <a:lumMod val="49000"/>
                  <a:lumOff val="51000"/>
                </a:schemeClr>
              </a:solidFill>
              <a:latin typeface="Calibri"/>
              <a:ea typeface="+mn-lt"/>
              <a:cs typeface="Calibri"/>
            </a:endParaRPr>
          </a:p>
          <a:p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더 많은 내용은 </a:t>
            </a:r>
            <a:r>
              <a:rPr lang="ko-KR" dirty="0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vscode의</a:t>
            </a:r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Source</a:t>
            </a:r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Control</a:t>
            </a:r>
            <a:r>
              <a:rPr lang="ko-KR" dirty="0">
                <a:solidFill>
                  <a:schemeClr val="tx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 관련 공식 문서에서 찾아 볼 수 있습니다.</a:t>
            </a:r>
          </a:p>
          <a:p>
            <a:endParaRPr lang="ko-KR" altLang="en-US" dirty="0">
              <a:ea typeface="+mn-lt"/>
              <a:cs typeface="+mn-lt"/>
            </a:endParaRPr>
          </a:p>
        </p:txBody>
      </p:sp>
      <p:pic>
        <p:nvPicPr>
          <p:cNvPr id="5" name="그림 4" descr="Screenshot of staging specific lines from the diff editor.">
            <a:extLst>
              <a:ext uri="{FF2B5EF4-FFF2-40B4-BE49-F238E27FC236}">
                <a16:creationId xmlns:a16="http://schemas.microsoft.com/office/drawing/2014/main" id="{3B4CBF13-C561-1F11-647E-931079AA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20" y="1954217"/>
            <a:ext cx="7498080" cy="2949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0EC4B8-2785-2024-D64E-2ACDEC6B0F04}"/>
              </a:ext>
            </a:extLst>
          </p:cNvPr>
          <p:cNvSpPr txBox="1"/>
          <p:nvPr/>
        </p:nvSpPr>
        <p:spPr>
          <a:xfrm>
            <a:off x="406399" y="1950720"/>
            <a:ext cx="418591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>
                <a:latin typeface="Calibri"/>
                <a:ea typeface="맑은 고딕"/>
                <a:cs typeface="+mn-lt"/>
              </a:rPr>
              <a:t>• </a:t>
            </a:r>
            <a:r>
              <a:rPr lang="ko-KR" dirty="0" err="1">
                <a:latin typeface="Calibri"/>
                <a:ea typeface="맑은 고딕"/>
                <a:cs typeface="+mn-lt"/>
              </a:rPr>
              <a:t>Source</a:t>
            </a:r>
            <a:r>
              <a:rPr lang="ko-KR" dirty="0">
                <a:latin typeface="Calibri"/>
                <a:ea typeface="맑은 고딕"/>
                <a:cs typeface="+mn-lt"/>
              </a:rPr>
              <a:t> </a:t>
            </a:r>
            <a:r>
              <a:rPr lang="ko-KR" dirty="0" err="1">
                <a:latin typeface="Calibri"/>
                <a:ea typeface="맑은 고딕"/>
                <a:cs typeface="+mn-lt"/>
              </a:rPr>
              <a:t>Control에서</a:t>
            </a:r>
            <a:r>
              <a:rPr lang="ko-KR" dirty="0">
                <a:latin typeface="Calibri"/>
                <a:ea typeface="맑은 고딕"/>
                <a:cs typeface="+mn-lt"/>
              </a:rPr>
              <a:t> 파일을 </a:t>
            </a:r>
            <a:endParaRPr lang="ko-KR" altLang="en-US"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 altLang="en-US" dirty="0">
                <a:latin typeface="Calibri"/>
                <a:ea typeface="맑은 고딕"/>
                <a:cs typeface="+mn-lt"/>
              </a:rPr>
              <a:t>클릭하면</a:t>
            </a:r>
            <a:r>
              <a:rPr lang="ko-KR" dirty="0">
                <a:latin typeface="Calibri"/>
                <a:ea typeface="맑은 고딕"/>
                <a:cs typeface="+mn-lt"/>
              </a:rPr>
              <a:t> 변경 내용을 확인할 수 있음</a:t>
            </a:r>
            <a:endParaRPr lang="ko-KR" altLang="en-US" dirty="0">
              <a:latin typeface="Calibri"/>
              <a:ea typeface="맑은 고딕" panose="020B0503020000020004" pitchFamily="34" charset="-127"/>
              <a:cs typeface="+mn-lt"/>
            </a:endParaRPr>
          </a:p>
          <a:p>
            <a:endParaRPr lang="ko-KR" altLang="en-US" dirty="0"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 dirty="0">
                <a:latin typeface="Calibri"/>
                <a:ea typeface="맑은 고딕"/>
                <a:cs typeface="+mn-lt"/>
              </a:rPr>
              <a:t>• 왼쪽: 기존 코드</a:t>
            </a:r>
            <a:r>
              <a:rPr lang="en-US" altLang="ko-KR" dirty="0">
                <a:latin typeface="Calibri"/>
                <a:ea typeface="Calibri"/>
                <a:cs typeface="+mn-lt"/>
              </a:rPr>
              <a:t>,</a:t>
            </a:r>
            <a:r>
              <a:rPr lang="ko-KR" dirty="0">
                <a:latin typeface="Calibri"/>
                <a:ea typeface="맑은 고딕"/>
                <a:cs typeface="+mn-lt"/>
              </a:rPr>
              <a:t> </a:t>
            </a:r>
            <a:endParaRPr lang="ko-KR" altLang="en-US">
              <a:latin typeface="Calibri"/>
              <a:ea typeface="맑은 고딕"/>
              <a:cs typeface="+mn-lt"/>
            </a:endParaRPr>
          </a:p>
          <a:p>
            <a:r>
              <a:rPr lang="ko-KR" dirty="0">
                <a:latin typeface="Calibri"/>
                <a:ea typeface="맑은 고딕"/>
                <a:cs typeface="+mn-lt"/>
              </a:rPr>
              <a:t> 오른쪽: 수정된 코드 </a:t>
            </a:r>
          </a:p>
          <a:p>
            <a:endParaRPr lang="ko-KR" dirty="0">
              <a:latin typeface="Calibri"/>
              <a:ea typeface="맑은 고딕"/>
              <a:cs typeface="+mn-lt"/>
            </a:endParaRPr>
          </a:p>
          <a:p>
            <a:r>
              <a:rPr lang="ko-KR" dirty="0">
                <a:latin typeface="Calibri"/>
                <a:ea typeface="맑은 고딕"/>
                <a:cs typeface="+mn-lt"/>
              </a:rPr>
              <a:t>• 추가된 내용은 초록색, </a:t>
            </a:r>
            <a:endParaRPr lang="ko-KR" altLang="en-US">
              <a:latin typeface="Calibri"/>
              <a:ea typeface="맑은 고딕"/>
              <a:cs typeface="+mn-lt"/>
            </a:endParaRPr>
          </a:p>
          <a:p>
            <a:r>
              <a:rPr lang="ko-KR" dirty="0">
                <a:latin typeface="Calibri"/>
                <a:ea typeface="맑은 고딕"/>
                <a:cs typeface="+mn-lt"/>
              </a:rPr>
              <a:t> 삭제된 내용은 빨간색으로 표시 </a:t>
            </a:r>
          </a:p>
          <a:p>
            <a:endParaRPr lang="ko-KR" altLang="en-US" dirty="0">
              <a:latin typeface="Calibri"/>
              <a:ea typeface="맑은 고딕"/>
              <a:cs typeface="+mn-lt"/>
            </a:endParaRPr>
          </a:p>
          <a:p>
            <a:r>
              <a:rPr lang="ko-KR" dirty="0">
                <a:latin typeface="Calibri"/>
                <a:ea typeface="맑은 고딕"/>
                <a:cs typeface="+mn-lt"/>
              </a:rPr>
              <a:t>• 필요한 변경만 선택하여 </a:t>
            </a:r>
            <a:endParaRPr lang="ko-KR" altLang="en-US">
              <a:latin typeface="Calibri"/>
              <a:ea typeface="맑은 고딕"/>
              <a:cs typeface="+mn-lt"/>
            </a:endParaRPr>
          </a:p>
          <a:p>
            <a:r>
              <a:rPr lang="ko-KR" dirty="0" err="1">
                <a:latin typeface="Calibri"/>
                <a:ea typeface="맑은 고딕"/>
                <a:cs typeface="+mn-lt"/>
              </a:rPr>
              <a:t>Stage할</a:t>
            </a:r>
            <a:r>
              <a:rPr lang="ko-KR" dirty="0">
                <a:latin typeface="Calibri"/>
                <a:ea typeface="맑은 고딕"/>
                <a:cs typeface="+mn-lt"/>
              </a:rPr>
              <a:t> 수도 있음</a:t>
            </a:r>
            <a:endParaRPr lang="ko-KR">
              <a:latin typeface="Calibri"/>
              <a:ea typeface="맑은 고딕"/>
              <a:cs typeface="Calibri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C8B5120-E3FB-58B7-BE90-2C2FB0093F11}"/>
              </a:ext>
            </a:extLst>
          </p:cNvPr>
          <p:cNvCxnSpPr/>
          <p:nvPr/>
        </p:nvCxnSpPr>
        <p:spPr>
          <a:xfrm>
            <a:off x="407035" y="5542915"/>
            <a:ext cx="11430000" cy="10160"/>
          </a:xfrm>
          <a:prstGeom prst="straightConnector1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335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38912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참고자료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0584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• VS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Code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Overview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VS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Code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Quickstart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use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source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
• VS Code — Working with repositories and remotes
• VS Code — Work with GitHub in VS Code
• </a:t>
            </a:r>
            <a:r>
              <a:rPr sz="1800" b="0" dirty="0" err="1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Git</a:t>
            </a:r>
            <a:r>
              <a:rPr sz="1800" b="0" dirty="0">
                <a:solidFill>
                  <a:srgbClr val="1F2227"/>
                </a:solidFill>
                <a:latin typeface="Calibri"/>
                <a:ea typeface="Calibri"/>
                <a:cs typeface="Calibri"/>
              </a:rPr>
              <a:t> — 공식 문서
• GitHub Docs — Git / Pull Request / Repository</a:t>
            </a:r>
            <a:endParaRPr lang="ko-KR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316</cp:revision>
  <dcterms:created xsi:type="dcterms:W3CDTF">2013-01-27T09:14:16Z</dcterms:created>
  <dcterms:modified xsi:type="dcterms:W3CDTF">2026-09-22T19:14:35Z</dcterms:modified>
  <cp:category/>
</cp:coreProperties>
</file>